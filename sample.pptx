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example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MarkCopy sample</a:t>
            </a:r>
          </a:p>
        </p:txBody>
      </p:sp>
      <p:sp>
        <p:nvSpPr>
          <p:cNvPr id="3" name="Content 3"/>
          <p:cNvSpPr/>
          <p:nvPr/>
        </p:nvSpPr>
        <p:spPr>
          <a:xfrm>
            <a:off x="838200" y="1825625"/>
            <a:ext cx="10515600" cy="274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800"/>
              <a:t>A quick file to exercise every copy path. Right-click things in the preview.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Text</a:t>
            </a:r>
          </a:p>
        </p:txBody>
      </p:sp>
      <p:sp>
        <p:nvSpPr>
          <p:cNvPr id="3" name="Content 3"/>
          <p:cNvSpPr/>
          <p:nvPr/>
        </p:nvSpPr>
        <p:spPr>
          <a:xfrm>
            <a:off x="838200" y="1825625"/>
            <a:ext cx="10515600" cy="548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800"/>
              <a:t>This paragraph has </a:t>
            </a:r>
            <a:r>
              <a:rPr sz="1800" b="1"/>
              <a:t>bold</a:t>
            </a:r>
            <a:r>
              <a:rPr sz="1800"/>
              <a:t>, </a:t>
            </a:r>
            <a:r>
              <a:rPr sz="1800" i="1"/>
              <a:t>italic</a:t>
            </a:r>
            <a:r>
              <a:rPr sz="1800"/>
              <a:t>, </a:t>
            </a:r>
            <a:r>
              <a:rPr sz="1800">
                <a:latin typeface="Consolas"/>
              </a:rPr>
              <a:t>inline code</a:t>
            </a:r>
            <a:r>
              <a:rPr sz="1800"/>
              <a:t>, a </a:t>
            </a:r>
            <a:r>
              <a:rPr sz="1800">
                <a:hlinkClick r:id="rId2"/>
              </a:rPr>
              <a:t>link</a:t>
            </a:r>
            <a:r>
              <a:rPr sz="1800"/>
              <a:t>, and a footnote.</a:t>
            </a:r>
            <a:r>
              <a:rPr sz="1800"/>
              <a:t>[1]</a:t>
            </a:r>
          </a:p>
          <a:p>
            <a:pPr lvl="1" marL="457200" indent="-457200">
              <a:buNone/>
            </a:pPr>
            <a:r>
              <a:rPr sz="1800" i="1"/>
              <a:t>A blockquote to copy as rich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/>
              <a:tblGrid>
                <a:gridCol w="3505200"/>
                <a:gridCol w="3505200"/>
                <a:gridCol w="3505200"/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 b="1"/>
                        <a:t>Feature</a:t>
                      </a:r>
                    </a:p>
                  </a:txBody>
                  <a:tcPr marL="45720" marR="45720" marT="22860" marB="2286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/>
                        <a:t>Built-in</a:t>
                      </a:r>
                    </a:p>
                  </a:txBody>
                  <a:tcPr marL="45720" marR="45720" marT="22860" marB="2286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 b="1"/>
                        <a:t>MarkCopy</a:t>
                      </a:r>
                    </a:p>
                  </a:txBody>
                  <a:tcPr marL="45720" marR="45720" marT="22860" marB="22860">
                    <a:solidFill>
                      <a:srgbClr val="F6F8F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/>
                        <a:t>Rich-text copy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/>
                        <a:t>❌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/>
                        <a:t>✅</a:t>
                      </a:r>
                    </a:p>
                  </a:txBody>
                  <a:tcPr marL="45720" marR="45720" marT="22860" marB="22860"/>
                </a:tc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/>
                        <a:t>Table as TSV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/>
                        <a:t>❌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/>
                        <a:t>✅</a:t>
                      </a:r>
                    </a:p>
                  </a:txBody>
                  <a:tcPr marL="45720" marR="45720" marT="22860" marB="22860"/>
                </a:tc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/>
                        <a:t>Diagram as PNG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/>
                        <a:t>❌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sz="1800"/>
                        <a:t>✅</a:t>
                      </a:r>
                    </a:p>
                  </a:txBody>
                  <a:tcPr marL="45720" marR="45720" marT="22860" marB="2286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Code</a:t>
            </a:r>
          </a:p>
        </p:txBody>
      </p:sp>
      <p:sp>
        <p:nvSpPr>
          <p:cNvPr id="3" name="Content 3"/>
          <p:cNvSpPr/>
          <p:nvPr/>
        </p:nvSpPr>
        <p:spPr>
          <a:xfrm>
            <a:off x="838200" y="1825625"/>
            <a:ext cx="10515600" cy="7314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600">
                <a:latin typeface="Consolas"/>
              </a:rPr>
              <a:t>export</a:t>
            </a:r>
            <a:r>
              <a:rPr sz="1600">
                <a:latin typeface="Consolas"/>
              </a:rPr>
              <a:t> </a:t>
            </a:r>
            <a:r>
              <a:rPr sz="1600">
                <a:latin typeface="Consolas"/>
              </a:rPr>
              <a:t>function</a:t>
            </a:r>
            <a:r>
              <a:rPr sz="1600">
                <a:latin typeface="Consolas"/>
              </a:rPr>
              <a:t> </a:t>
            </a:r>
            <a:r>
              <a:rPr sz="1600">
                <a:latin typeface="Consolas"/>
              </a:rPr>
              <a:t>hello</a:t>
            </a:r>
            <a:r>
              <a:rPr sz="1600">
                <a:latin typeface="Consolas"/>
              </a:rPr>
              <a:t>(</a:t>
            </a:r>
            <a:r>
              <a:rPr sz="1600">
                <a:latin typeface="Consolas"/>
              </a:rPr>
              <a:t>name</a:t>
            </a:r>
            <a:r>
              <a:rPr sz="1600">
                <a:latin typeface="Consolas"/>
              </a:rPr>
              <a:t>: </a:t>
            </a:r>
            <a:r>
              <a:rPr sz="1600">
                <a:latin typeface="Consolas"/>
              </a:rPr>
              <a:t>string</a:t>
            </a:r>
            <a:r>
              <a:rPr sz="1600">
                <a:latin typeface="Consolas"/>
              </a:rPr>
              <a:t>): </a:t>
            </a:r>
            <a:r>
              <a:rPr sz="1600">
                <a:latin typeface="Consolas"/>
              </a:rPr>
              <a:t>string</a:t>
            </a:r>
            <a:r>
              <a:rPr sz="1600">
                <a:latin typeface="Consolas"/>
              </a:rPr>
              <a:t> {</a:t>
            </a:r>
          </a:p>
          <a:p>
            <a:pPr lvl="0">
              <a:buNone/>
            </a:pPr>
            <a:r>
              <a:rPr sz="1600">
                <a:latin typeface="Consolas"/>
              </a:rPr>
              <a:t>  </a:t>
            </a:r>
            <a:r>
              <a:rPr sz="1600">
                <a:latin typeface="Consolas"/>
              </a:rPr>
              <a:t>return</a:t>
            </a:r>
            <a:r>
              <a:rPr sz="1600">
                <a:latin typeface="Consolas"/>
              </a:rPr>
              <a:t> </a:t>
            </a:r>
            <a:r>
              <a:rPr sz="1600">
                <a:latin typeface="Consolas"/>
              </a:rPr>
              <a:t>`Hello, </a:t>
            </a:r>
            <a:r>
              <a:rPr sz="1600">
                <a:latin typeface="Consolas"/>
              </a:rPr>
              <a:t>${name}</a:t>
            </a:r>
            <a:r>
              <a:rPr sz="1600">
                <a:latin typeface="Consolas"/>
              </a:rPr>
              <a:t>!`</a:t>
            </a:r>
            <a:r>
              <a:rPr sz="1600">
                <a:latin typeface="Consolas"/>
              </a:rPr>
              <a:t>;</a:t>
            </a:r>
          </a:p>
          <a:p>
            <a:pPr lvl="0">
              <a:buNone/>
            </a:pPr>
            <a:r>
              <a:rPr sz="16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Diagram</a:t>
            </a:r>
          </a:p>
        </p:txBody>
      </p:sp>
      <p:sp>
        <p:nvSpPr>
          <p:cNvPr id="3" name="Content 3"/>
          <p:cNvSpPr/>
          <p:nvPr/>
        </p:nvSpPr>
        <p:spPr>
          <a:xfrm>
            <a:off x="838200" y="1825625"/>
            <a:ext cx="10515600" cy="1219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600">
                <a:latin typeface="Consolas"/>
              </a:rPr>
              <a:t>flowchart LR</a:t>
            </a:r>
          </a:p>
          <a:p>
            <a:pPr lvl="0">
              <a:buNone/>
            </a:pPr>
            <a:r>
              <a:rPr sz="1600">
                <a:latin typeface="Consolas"/>
              </a:rPr>
              <a:t>  A[Markdown] --&gt; B{Right-click}</a:t>
            </a:r>
          </a:p>
          <a:p>
            <a:pPr lvl="0">
              <a:buNone/>
            </a:pPr>
            <a:r>
              <a:rPr sz="1600">
                <a:latin typeface="Consolas"/>
              </a:rPr>
              <a:t>  B --&gt; C[Rich Text]</a:t>
            </a:r>
          </a:p>
          <a:p>
            <a:pPr lvl="0">
              <a:buNone/>
            </a:pPr>
            <a:r>
              <a:rPr sz="1600">
                <a:latin typeface="Consolas"/>
              </a:rPr>
              <a:t>  B --&gt; D[PNG]</a:t>
            </a:r>
          </a:p>
          <a:p>
            <a:pPr lvl="0">
              <a:buNone/>
            </a:pPr>
            <a:r>
              <a:rPr sz="1600">
                <a:latin typeface="Consolas"/>
              </a:rPr>
              <a:t>  B --&gt; E[Markdown]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Math</a:t>
            </a:r>
          </a:p>
        </p:txBody>
      </p:sp>
      <p:sp>
        <p:nvSpPr>
          <p:cNvPr id="3" name="Content 3"/>
          <p:cNvSpPr/>
          <p:nvPr/>
        </p:nvSpPr>
        <p:spPr>
          <a:xfrm>
            <a:off x="838200" y="1825625"/>
            <a:ext cx="10515600" cy="8229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800"/>
              <a:t>An inline equation, </a:t>
            </a:r>
            <a:r>
              <a:rPr sz="1800">
                <a:latin typeface="Consolas"/>
              </a:rPr>
              <a:t>E = mc^2</a:t>
            </a:r>
            <a:r>
              <a:rPr sz="1800"/>
              <a:t>, sits in a sentence. A display one stands alone:</a:t>
            </a:r>
          </a:p>
          <a:p>
            <a:pPr lvl="0">
              <a:buNone/>
            </a:pPr>
            <a:r>
              <a:rPr sz="1800"/>
              <a:t> \int_0^\infty e^{-x^2}\,dx = \frac{\sqrt{\pi}}{2} </a:t>
            </a:r>
            <a:r>
              <a:rPr sz="1800"/>
              <a:t> </a:t>
            </a:r>
            <a:r>
              <a:rPr sz="1800"/>
              <a:t> </a:t>
            </a:r>
            <a:r>
              <a:rPr sz="1800"/>
              <a:t> </a:t>
            </a:r>
          </a:p>
          <a:p>
            <a:pPr lvl="0">
              <a:buFont typeface="+mj-lt"/>
              <a:buAutoNum type="arabicPeriod"/>
            </a:pPr>
            <a:r>
              <a:rPr sz="1800"/>
              <a:t>Footnote references link to definitions, with a return link back to the prose. </a:t>
            </a:r>
            <a:r>
              <a:rPr sz="1800"/>
              <a:t>↩︎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Copy">
  <a:themeElements>
    <a:clrScheme name="MarkCopy">
      <a:dk1>
        <a:sysClr val="windowText" lastClr="000000"/>
      </a:dk1>
      <a:lt1>
        <a:sysClr val="window" lastClr="FFFFFF"/>
      </a:lt1>
      <a:dk2>
        <a:srgbClr val="1F2328"/>
      </a:dk2>
      <a:lt2>
        <a:srgbClr val="D0D7DE"/>
      </a:lt2>
      <a:accent1>
        <a:srgbClr val="0969DA"/>
      </a:accent1>
      <a:accent2>
        <a:srgbClr val="CF222E"/>
      </a:accent2>
      <a:accent3>
        <a:srgbClr val="1A7F37"/>
      </a:accent3>
      <a:accent4>
        <a:srgbClr val="9A6700"/>
      </a:accent4>
      <a:accent5>
        <a:srgbClr val="8250DF"/>
      </a:accent5>
      <a:accent6>
        <a:srgbClr val="BF3989"/>
      </a:accent6>
      <a:hlink>
        <a:srgbClr val="0969DA"/>
      </a:hlink>
      <a:folHlink>
        <a:srgbClr val="8250DF"/>
      </a:folHlink>
    </a:clrScheme>
    <a:fontScheme name="MarkCopy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arkCopy">
      <a:fillStyleLst>
        <a:solidFill>
          <a:schemeClr val="phClr"/>
        </a:solidFill>
        <a:solidFill>
          <a:schemeClr val="phClr">
            <a:lumMod val="110000"/>
          </a:schemeClr>
        </a:solidFill>
        <a:solidFill>
          <a:schemeClr val="phClr">
            <a:lumMod val="10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105000"/>
          </a:schemeClr>
        </a:solidFill>
        <a:solidFill>
          <a:schemeClr val="phClr">
            <a:lumMod val="102000"/>
          </a:schemeClr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MarkCopy sample</dc:title>
  <dc:creator>MarkCopy</dc:creator>
  <cp:lastModifiedBy>MarkCopy</cp:lastModifiedBy>
  <dcterms:created xsi:type="dcterms:W3CDTF">2026-01-01T00:00:00Z</dcterms:created>
  <dcterms:modified xsi:type="dcterms:W3CDTF">2026-01-01T00:00:00Z</dcterms:modified>
</cp:coreProperties>
</file>